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Taraciuk" userId="c39586e426d78525" providerId="LiveId" clId="{6668E59B-7DC1-4AA1-8F02-266D2DAB1D38}"/>
    <pc:docChg chg="modSld">
      <pc:chgData name="Juan Taraciuk" userId="c39586e426d78525" providerId="LiveId" clId="{6668E59B-7DC1-4AA1-8F02-266D2DAB1D38}" dt="2026-06-17T21:17:10.453" v="11" actId="1076"/>
      <pc:docMkLst>
        <pc:docMk/>
      </pc:docMkLst>
      <pc:sldChg chg="modSp mod">
        <pc:chgData name="Juan Taraciuk" userId="c39586e426d78525" providerId="LiveId" clId="{6668E59B-7DC1-4AA1-8F02-266D2DAB1D38}" dt="2026-06-15T17:17:29.230" v="2" actId="20577"/>
        <pc:sldMkLst>
          <pc:docMk/>
          <pc:sldMk cId="0" sldId="257"/>
        </pc:sldMkLst>
        <pc:spChg chg="mod">
          <ac:chgData name="Juan Taraciuk" userId="c39586e426d78525" providerId="LiveId" clId="{6668E59B-7DC1-4AA1-8F02-266D2DAB1D38}" dt="2026-06-15T17:17:29.230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Juan Taraciuk" userId="c39586e426d78525" providerId="LiveId" clId="{6668E59B-7DC1-4AA1-8F02-266D2DAB1D38}" dt="2026-06-17T21:17:10.453" v="11" actId="1076"/>
        <pc:sldMkLst>
          <pc:docMk/>
          <pc:sldMk cId="0" sldId="260"/>
        </pc:sldMkLst>
        <pc:spChg chg="mod">
          <ac:chgData name="Juan Taraciuk" userId="c39586e426d78525" providerId="LiveId" clId="{6668E59B-7DC1-4AA1-8F02-266D2DAB1D38}" dt="2026-06-17T21:17:01.811" v="7" actId="14100"/>
          <ac:spMkLst>
            <pc:docMk/>
            <pc:sldMk cId="0" sldId="260"/>
            <ac:spMk id="4" creationId="{00000000-0000-0000-0000-000000000000}"/>
          </ac:spMkLst>
        </pc:spChg>
        <pc:picChg chg="add mod">
          <ac:chgData name="Juan Taraciuk" userId="c39586e426d78525" providerId="LiveId" clId="{6668E59B-7DC1-4AA1-8F02-266D2DAB1D38}" dt="2026-06-17T21:17:10.453" v="11" actId="1076"/>
          <ac:picMkLst>
            <pc:docMk/>
            <pc:sldMk cId="0" sldId="260"/>
            <ac:picMk id="6" creationId="{1549D9A4-6CB5-1F37-B75D-F7E2F28986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728655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800" b="1">
                <a:solidFill>
                  <a:srgbClr val="264653"/>
                </a:solidFill>
              </a:rPr>
              <a:t>Análisis de reseñas de Skyscanner</a:t>
            </a:r>
          </a:p>
          <a:p>
            <a:r>
              <a:rPr sz="2200">
                <a:solidFill>
                  <a:srgbClr val="2A9D8F"/>
                </a:solidFill>
              </a:rPr>
              <a:t>Trustpilot · sector Travel &amp; Vacation</a:t>
            </a:r>
          </a:p>
          <a:p>
            <a:r>
              <a:rPr sz="1800">
                <a:solidFill>
                  <a:srgbClr val="606060"/>
                </a:solidFill>
              </a:rPr>
              <a:t>Módulo Deep Learning · Trabajo final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Objetivos e hipótesis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Empresa </a:t>
            </a:r>
            <a:r>
              <a:rPr sz="1800" dirty="0" err="1">
                <a:solidFill>
                  <a:srgbClr val="264653"/>
                </a:solidFill>
              </a:rPr>
              <a:t>objetivo</a:t>
            </a:r>
            <a:r>
              <a:rPr sz="1800" dirty="0">
                <a:solidFill>
                  <a:srgbClr val="264653"/>
                </a:solidFill>
              </a:rPr>
              <a:t>: www.skyscanner.net — 100 </a:t>
            </a:r>
            <a:r>
              <a:rPr sz="1800" dirty="0" err="1">
                <a:solidFill>
                  <a:srgbClr val="264653"/>
                </a:solidFill>
              </a:rPr>
              <a:t>reseñas</a:t>
            </a:r>
            <a:r>
              <a:rPr sz="1800" dirty="0">
                <a:solidFill>
                  <a:srgbClr val="264653"/>
                </a:solidFill>
              </a:rPr>
              <a:t> (</a:t>
            </a:r>
            <a:r>
              <a:rPr sz="1800" dirty="0" err="1">
                <a:solidFill>
                  <a:srgbClr val="264653"/>
                </a:solidFill>
              </a:rPr>
              <a:t>cota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máxima</a:t>
            </a:r>
            <a:r>
              <a:rPr sz="1800" dirty="0">
                <a:solidFill>
                  <a:srgbClr val="264653"/>
                </a:solidFill>
              </a:rPr>
              <a:t> del dataset).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Cuatro </a:t>
            </a:r>
            <a:r>
              <a:rPr sz="1800" dirty="0" err="1">
                <a:solidFill>
                  <a:srgbClr val="264653"/>
                </a:solidFill>
              </a:rPr>
              <a:t>preguntas</a:t>
            </a:r>
            <a:r>
              <a:rPr sz="1800" dirty="0">
                <a:solidFill>
                  <a:srgbClr val="264653"/>
                </a:solidFill>
              </a:rPr>
              <a:t> del </a:t>
            </a:r>
            <a:r>
              <a:rPr sz="1800" dirty="0" err="1">
                <a:solidFill>
                  <a:srgbClr val="264653"/>
                </a:solidFill>
              </a:rPr>
              <a:t>enunciado</a:t>
            </a:r>
            <a:r>
              <a:rPr sz="1800" dirty="0">
                <a:solidFill>
                  <a:srgbClr val="264653"/>
                </a:solidFill>
              </a:rPr>
              <a:t>: </a:t>
            </a:r>
            <a:r>
              <a:rPr sz="1800" dirty="0" err="1">
                <a:solidFill>
                  <a:srgbClr val="264653"/>
                </a:solidFill>
              </a:rPr>
              <a:t>sentimiento</a:t>
            </a:r>
            <a:r>
              <a:rPr sz="1800" dirty="0">
                <a:solidFill>
                  <a:srgbClr val="264653"/>
                </a:solidFill>
              </a:rPr>
              <a:t>, topics, </a:t>
            </a:r>
            <a:r>
              <a:rPr sz="1800" dirty="0" err="1">
                <a:solidFill>
                  <a:srgbClr val="264653"/>
                </a:solidFill>
              </a:rPr>
              <a:t>sentimiento×topic</a:t>
            </a:r>
            <a:r>
              <a:rPr sz="1800" dirty="0">
                <a:solidFill>
                  <a:srgbClr val="264653"/>
                </a:solidFill>
              </a:rPr>
              <a:t>, </a:t>
            </a:r>
            <a:r>
              <a:rPr sz="1800" dirty="0" err="1">
                <a:solidFill>
                  <a:srgbClr val="264653"/>
                </a:solidFill>
              </a:rPr>
              <a:t>áreas</a:t>
            </a:r>
            <a:r>
              <a:rPr sz="1800" dirty="0">
                <a:solidFill>
                  <a:srgbClr val="264653"/>
                </a:solidFill>
              </a:rPr>
              <a:t> de </a:t>
            </a:r>
            <a:r>
              <a:rPr sz="1800" dirty="0" err="1">
                <a:solidFill>
                  <a:srgbClr val="264653"/>
                </a:solidFill>
              </a:rPr>
              <a:t>mejora</a:t>
            </a:r>
            <a:r>
              <a:rPr sz="1800" dirty="0">
                <a:solidFill>
                  <a:srgbClr val="264653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</a:t>
            </a:r>
            <a:r>
              <a:rPr sz="1800" dirty="0" err="1">
                <a:solidFill>
                  <a:srgbClr val="264653"/>
                </a:solidFill>
              </a:rPr>
              <a:t>Hipótesis</a:t>
            </a:r>
            <a:r>
              <a:rPr sz="1800" dirty="0">
                <a:solidFill>
                  <a:srgbClr val="264653"/>
                </a:solidFill>
              </a:rPr>
              <a:t> — Skyscanner </a:t>
            </a:r>
            <a:r>
              <a:rPr sz="1800" dirty="0" err="1">
                <a:solidFill>
                  <a:srgbClr val="264653"/>
                </a:solidFill>
              </a:rPr>
              <a:t>concentra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fortalezas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en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búsqueda</a:t>
            </a:r>
            <a:r>
              <a:rPr sz="1800" dirty="0">
                <a:solidFill>
                  <a:srgbClr val="264653"/>
                </a:solidFill>
              </a:rPr>
              <a:t>/</a:t>
            </a:r>
            <a:r>
              <a:rPr sz="1800" dirty="0" err="1">
                <a:solidFill>
                  <a:srgbClr val="264653"/>
                </a:solidFill>
              </a:rPr>
              <a:t>precio</a:t>
            </a:r>
            <a:r>
              <a:rPr sz="1800" dirty="0">
                <a:solidFill>
                  <a:srgbClr val="264653"/>
                </a:solidFill>
              </a:rPr>
              <a:t> y </a:t>
            </a:r>
            <a:r>
              <a:rPr sz="1800" dirty="0" err="1">
                <a:solidFill>
                  <a:srgbClr val="264653"/>
                </a:solidFill>
              </a:rPr>
              <a:t>debilidades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en</a:t>
            </a:r>
            <a:r>
              <a:rPr sz="1800" dirty="0">
                <a:solidFill>
                  <a:srgbClr val="264653"/>
                </a:solidFill>
              </a:rPr>
              <a:t> post-booking.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Modelo de </a:t>
            </a:r>
            <a:r>
              <a:rPr sz="1800" dirty="0" err="1">
                <a:solidFill>
                  <a:srgbClr val="264653"/>
                </a:solidFill>
              </a:rPr>
              <a:t>sentimiento</a:t>
            </a:r>
            <a:r>
              <a:rPr sz="1800" dirty="0">
                <a:solidFill>
                  <a:srgbClr val="264653"/>
                </a:solidFill>
              </a:rPr>
              <a:t> de </a:t>
            </a:r>
            <a:r>
              <a:rPr sz="1800" dirty="0" err="1">
                <a:solidFill>
                  <a:srgbClr val="264653"/>
                </a:solidFill>
              </a:rPr>
              <a:t>referencia</a:t>
            </a:r>
            <a:r>
              <a:rPr sz="1800" dirty="0">
                <a:solidFill>
                  <a:srgbClr val="264653"/>
                </a:solidFill>
              </a:rPr>
              <a:t>: </a:t>
            </a:r>
            <a:r>
              <a:rPr sz="1800" dirty="0" err="1">
                <a:solidFill>
                  <a:srgbClr val="264653"/>
                </a:solidFill>
              </a:rPr>
              <a:t>cardiffnlp</a:t>
            </a:r>
            <a:r>
              <a:rPr sz="1800" dirty="0">
                <a:solidFill>
                  <a:srgbClr val="264653"/>
                </a:solidFill>
              </a:rPr>
              <a:t>/twitter-</a:t>
            </a:r>
            <a:r>
              <a:rPr sz="1800" dirty="0" err="1">
                <a:solidFill>
                  <a:srgbClr val="264653"/>
                </a:solidFill>
              </a:rPr>
              <a:t>roberta</a:t>
            </a:r>
            <a:r>
              <a:rPr sz="1800" dirty="0">
                <a:solidFill>
                  <a:srgbClr val="264653"/>
                </a:solidFill>
              </a:rPr>
              <a:t>-base-sentiment-latest (pos/neutral/neg).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Topic modeling principal: </a:t>
            </a:r>
            <a:r>
              <a:rPr sz="1800" dirty="0" err="1">
                <a:solidFill>
                  <a:srgbClr val="264653"/>
                </a:solidFill>
              </a:rPr>
              <a:t>BERTopic</a:t>
            </a:r>
            <a:r>
              <a:rPr sz="1800" dirty="0">
                <a:solidFill>
                  <a:srgbClr val="264653"/>
                </a:solidFill>
              </a:rPr>
              <a:t> + NMF/TF-IDF </a:t>
            </a:r>
            <a:r>
              <a:rPr sz="1800" dirty="0" err="1">
                <a:solidFill>
                  <a:srgbClr val="264653"/>
                </a:solidFill>
              </a:rPr>
              <a:t>como</a:t>
            </a:r>
            <a:r>
              <a:rPr sz="1800" dirty="0">
                <a:solidFill>
                  <a:srgbClr val="264653"/>
                </a:solidFill>
              </a:rPr>
              <a:t> sanity check.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64653"/>
                </a:solidFill>
              </a:rPr>
              <a:t>• </a:t>
            </a:r>
            <a:r>
              <a:rPr sz="1800" dirty="0" err="1">
                <a:solidFill>
                  <a:srgbClr val="264653"/>
                </a:solidFill>
              </a:rPr>
              <a:t>Competencia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acotada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por</a:t>
            </a:r>
            <a:r>
              <a:rPr sz="1800" dirty="0">
                <a:solidFill>
                  <a:srgbClr val="264653"/>
                </a:solidFill>
              </a:rPr>
              <a:t> embeddings de la columna `description`, no </a:t>
            </a:r>
            <a:r>
              <a:rPr sz="1800" dirty="0" err="1">
                <a:solidFill>
                  <a:srgbClr val="264653"/>
                </a:solidFill>
              </a:rPr>
              <a:t>por</a:t>
            </a:r>
            <a:r>
              <a:rPr sz="1800" dirty="0">
                <a:solidFill>
                  <a:srgbClr val="264653"/>
                </a:solidFill>
              </a:rPr>
              <a:t> </a:t>
            </a:r>
            <a:r>
              <a:rPr sz="1800" dirty="0" err="1">
                <a:solidFill>
                  <a:srgbClr val="264653"/>
                </a:solidFill>
              </a:rPr>
              <a:t>toda</a:t>
            </a:r>
            <a:r>
              <a:rPr sz="1800" dirty="0">
                <a:solidFill>
                  <a:srgbClr val="264653"/>
                </a:solidFill>
              </a:rPr>
              <a:t> la </a:t>
            </a:r>
            <a:r>
              <a:rPr sz="1800" dirty="0" err="1">
                <a:solidFill>
                  <a:srgbClr val="264653"/>
                </a:solidFill>
              </a:rPr>
              <a:t>categoría</a:t>
            </a:r>
            <a:r>
              <a:rPr sz="1800" dirty="0">
                <a:solidFill>
                  <a:srgbClr val="26465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EDA y selección de 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Embeddings de description (all-MiniLM-L6-v2) → 15 competidores más próximos a Skyscanner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</a:rPr>
              <a:t>• Travel &amp; Vacation: 5.425 reseñas · 57 empresas · 37 empresas con 100 reseñas.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</a:rPr>
              <a:t>• La categoría mezcla aerolíneas, hoteles, cottages y metabuscadores → sin filtro semántico la 'competencia' sería ruido.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</a:rPr>
              <a:t>• Top competidores seleccionados: TravelZoo, Netflights, Destinology, Audley Travel, Trip.com, TravelTrolley, Lastminute, GoSplitty, FlightOffice, Alternative Airlines, SuperEscapes, HolidaysPlease, LoveHolidays, EasyJet, BudgetAir.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</a:rPr>
              <a:t>• Corpus de análisis: 1.544 reseñas (100 Sky + 1.444 competencia).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64653"/>
                </a:solidFill>
              </a:rPr>
              <a:t>• Validación del sesgo de `stars`: la mediana por empresa toma muy pocos valores (efecto del relleno por mediana).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Sentimiento positivo / negativo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DistilBERT (binario) y RoBERTa Cardiff (3 clases) — Skyscanner vs Competencia</a:t>
            </a:r>
          </a:p>
        </p:txBody>
      </p:sp>
      <p:pic>
        <p:nvPicPr>
          <p:cNvPr id="4" name="Picture 3" descr="cell2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3738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</a:rPr>
              <a:t>Cardiff (3 clases): Skyscanner 31% pos / 12% neutral / 57% neg vs Competencia 41% / 10% / 49%. Skyscanner tiene ~10 pp menos de reseñas positivas que sus competidores más cercanos.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Análisis de topics — BERTopic (8 temas)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BERTopic con embeddings + UMAP + KMeans(K=8); NMF como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463040"/>
            <a:ext cx="4270248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0 — flight / booking / booked  (365 docs) · </a:t>
            </a:r>
            <a:r>
              <a:rPr sz="1500" dirty="0" err="1">
                <a:solidFill>
                  <a:srgbClr val="264653"/>
                </a:solidFill>
              </a:rPr>
              <a:t>problemas</a:t>
            </a:r>
            <a:r>
              <a:rPr sz="1500" dirty="0">
                <a:solidFill>
                  <a:srgbClr val="264653"/>
                </a:solidFill>
              </a:rPr>
              <a:t> con </a:t>
            </a:r>
            <a:r>
              <a:rPr sz="1500" dirty="0" err="1">
                <a:solidFill>
                  <a:srgbClr val="264653"/>
                </a:solidFill>
              </a:rPr>
              <a:t>vuelos</a:t>
            </a:r>
            <a:r>
              <a:rPr sz="1500" dirty="0">
                <a:solidFill>
                  <a:srgbClr val="264653"/>
                </a:solidFill>
              </a:rPr>
              <a:t> y bookings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1 — price / easy / flights  (247 docs) · </a:t>
            </a:r>
            <a:r>
              <a:rPr sz="1500" dirty="0" err="1">
                <a:solidFill>
                  <a:srgbClr val="264653"/>
                </a:solidFill>
              </a:rPr>
              <a:t>búsqueda</a:t>
            </a:r>
            <a:r>
              <a:rPr sz="1500" dirty="0">
                <a:solidFill>
                  <a:srgbClr val="264653"/>
                </a:solidFill>
              </a:rPr>
              <a:t> y </a:t>
            </a:r>
            <a:r>
              <a:rPr sz="1500" dirty="0" err="1">
                <a:solidFill>
                  <a:srgbClr val="264653"/>
                </a:solidFill>
              </a:rPr>
              <a:t>precios</a:t>
            </a:r>
            <a:r>
              <a:rPr sz="1500" dirty="0">
                <a:solidFill>
                  <a:srgbClr val="264653"/>
                </a:solidFill>
              </a:rPr>
              <a:t> (</a:t>
            </a:r>
            <a:r>
              <a:rPr sz="1500" dirty="0" err="1">
                <a:solidFill>
                  <a:srgbClr val="264653"/>
                </a:solidFill>
              </a:rPr>
              <a:t>territorio</a:t>
            </a:r>
            <a:r>
              <a:rPr sz="1500" dirty="0">
                <a:solidFill>
                  <a:srgbClr val="264653"/>
                </a:solidFill>
              </a:rPr>
              <a:t> Sky)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2 — helpful / service / booking  (215 docs) · feedback </a:t>
            </a:r>
            <a:r>
              <a:rPr sz="1500" dirty="0" err="1">
                <a:solidFill>
                  <a:srgbClr val="264653"/>
                </a:solidFill>
              </a:rPr>
              <a:t>positivo</a:t>
            </a:r>
            <a:r>
              <a:rPr sz="1500" dirty="0">
                <a:solidFill>
                  <a:srgbClr val="264653"/>
                </a:solidFill>
              </a:rPr>
              <a:t> de </a:t>
            </a:r>
            <a:r>
              <a:rPr sz="1500" dirty="0" err="1">
                <a:solidFill>
                  <a:srgbClr val="264653"/>
                </a:solidFill>
              </a:rPr>
              <a:t>atención</a:t>
            </a:r>
            <a:endParaRPr sz="1500" dirty="0">
              <a:solidFill>
                <a:srgbClr val="264653"/>
              </a:solidFill>
            </a:endParaRP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3 — holiday / holidays / booked  (206 docs) · </a:t>
            </a:r>
            <a:r>
              <a:rPr sz="1500" dirty="0" err="1">
                <a:solidFill>
                  <a:srgbClr val="264653"/>
                </a:solidFill>
              </a:rPr>
              <a:t>paquetes</a:t>
            </a:r>
            <a:r>
              <a:rPr sz="1500" dirty="0">
                <a:solidFill>
                  <a:srgbClr val="264653"/>
                </a:solidFill>
              </a:rPr>
              <a:t> </a:t>
            </a:r>
            <a:r>
              <a:rPr sz="1500" dirty="0" err="1">
                <a:solidFill>
                  <a:srgbClr val="264653"/>
                </a:solidFill>
              </a:rPr>
              <a:t>vacacionales</a:t>
            </a:r>
            <a:endParaRPr sz="1500" dirty="0">
              <a:solidFill>
                <a:srgbClr val="264653"/>
              </a:solidFill>
            </a:endParaRP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4 — hotel / holiday / booking  (184 docs) · </a:t>
            </a:r>
            <a:r>
              <a:rPr sz="1500" dirty="0" err="1">
                <a:solidFill>
                  <a:srgbClr val="264653"/>
                </a:solidFill>
              </a:rPr>
              <a:t>hoteles</a:t>
            </a:r>
            <a:r>
              <a:rPr sz="1500" dirty="0">
                <a:solidFill>
                  <a:srgbClr val="264653"/>
                </a:solidFill>
              </a:rPr>
              <a:t> e issues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5 — room / hotel / staff  (149 docs) · </a:t>
            </a:r>
            <a:r>
              <a:rPr sz="1500" dirty="0" err="1">
                <a:solidFill>
                  <a:srgbClr val="264653"/>
                </a:solidFill>
              </a:rPr>
              <a:t>experiencia</a:t>
            </a:r>
            <a:r>
              <a:rPr sz="1500" dirty="0">
                <a:solidFill>
                  <a:srgbClr val="264653"/>
                </a:solidFill>
              </a:rPr>
              <a:t> in-stay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6 — flight / chat / change  (108 docs) · </a:t>
            </a:r>
            <a:r>
              <a:rPr sz="1500" dirty="0" err="1">
                <a:solidFill>
                  <a:srgbClr val="264653"/>
                </a:solidFill>
              </a:rPr>
              <a:t>cambios</a:t>
            </a:r>
            <a:r>
              <a:rPr sz="1500" dirty="0">
                <a:solidFill>
                  <a:srgbClr val="264653"/>
                </a:solidFill>
              </a:rPr>
              <a:t> y chatbot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64653"/>
                </a:solidFill>
              </a:rPr>
              <a:t>• Topic 7 — travel / tour / itinerary  (72 docs) · </a:t>
            </a:r>
            <a:r>
              <a:rPr sz="1500" dirty="0" err="1">
                <a:solidFill>
                  <a:srgbClr val="264653"/>
                </a:solidFill>
              </a:rPr>
              <a:t>agencias</a:t>
            </a:r>
            <a:r>
              <a:rPr sz="1500" dirty="0">
                <a:solidFill>
                  <a:srgbClr val="264653"/>
                </a:solidFill>
              </a:rPr>
              <a:t> </a:t>
            </a:r>
            <a:r>
              <a:rPr sz="1500" dirty="0" err="1">
                <a:solidFill>
                  <a:srgbClr val="264653"/>
                </a:solidFill>
              </a:rPr>
              <a:t>tipo</a:t>
            </a:r>
            <a:r>
              <a:rPr sz="1500" dirty="0">
                <a:solidFill>
                  <a:srgbClr val="264653"/>
                </a:solidFill>
              </a:rPr>
              <a:t> Audley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9D9A4-6CB5-1F37-B75D-F7E2F289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453" y="1463040"/>
            <a:ext cx="6308979" cy="5047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Sentimiento × Topic — dónde Sky pierde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Score = % positivos − % negativos; sólo topics con ≥4 reseñas de Skyscanner</a:t>
            </a:r>
          </a:p>
        </p:txBody>
      </p:sp>
      <p:pic>
        <p:nvPicPr>
          <p:cNvPr id="4" name="Picture 3" descr="cell3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852160" cy="2283770"/>
          </a:xfrm>
          <a:prstGeom prst="rect">
            <a:avLst/>
          </a:prstGeom>
        </p:spPr>
      </p:pic>
      <p:pic>
        <p:nvPicPr>
          <p:cNvPr id="5" name="Picture 4" descr="cell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486400" cy="31728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</a:rPr>
              <a:t>Skyscanner sale peor que la competencia en sus dos topics dominantes: price/easy/flights (-46 pts) y flight/booking (-28 pts). El gap se explica por reclamos de cambios de precio entre búsqueda y booking, refunds y cancelaciones.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Lenguaje dominante en Skyscanner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06060"/>
                </a:solidFill>
              </a:rPr>
              <a:t>Wordclouds de reseñas positivas vs negativas (RoBERTa Cardiff)</a:t>
            </a:r>
          </a:p>
        </p:txBody>
      </p:sp>
      <p:pic>
        <p:nvPicPr>
          <p:cNvPr id="4" name="Picture 3" descr="cell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852160" cy="2949869"/>
          </a:xfrm>
          <a:prstGeom prst="rect">
            <a:avLst/>
          </a:prstGeom>
        </p:spPr>
      </p:pic>
      <p:pic>
        <p:nvPicPr>
          <p:cNvPr id="5" name="Picture 4" descr="cell4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486400" cy="2765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</a:rPr>
              <a:t>Las reseñas positivas resaltan 'good price', 'easy', 'flights', 'cheap'; las negativas resaltan 'refund', 'customer service', 'cancelled', 'money back', 'never'.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64653"/>
                </a:solidFill>
              </a:rPr>
              <a:t>Conclusiones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Sentimiento global — 57% reseñas negativas en Skyscanner vs 49% en la competencia cercana (Cardiff).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Topics — la marca se concentra en 'price/easy/flights' (74% de reseñas Sky) y 'flight/booking' (20%).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Sentimiento × Topic — Sky pierde 46 pts en search/price y 28 pts en flight/booking vs competencia.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Recomendación 1 — Auditar el journey 'búsqueda → booking': los reclamos sobre cambios de precio y disponibilidad son la mayor fuente de fricción.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Recomendación 2 — Inversión en customer care post-booking, especialmente cancelaciones, refunds y cambios de fecha.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64653"/>
                </a:solidFill>
              </a:rPr>
              <a:t>• Próximos pasos — modelo de sentimiento fine-tuneado en dominio travel; BERTopic dinámico para series temporales; segmentar por país/idioma cuando el dataset lo permita.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742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Taraciuk</cp:lastModifiedBy>
  <cp:revision>1</cp:revision>
  <dcterms:created xsi:type="dcterms:W3CDTF">2013-01-27T09:14:16Z</dcterms:created>
  <dcterms:modified xsi:type="dcterms:W3CDTF">2026-06-17T21:17:16Z</dcterms:modified>
  <cp:category/>
</cp:coreProperties>
</file>